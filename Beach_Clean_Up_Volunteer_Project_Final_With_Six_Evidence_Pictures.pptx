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457200"/>
            <a:ext cx="3931920" cy="3931920"/>
          </a:xfrm>
          <a:prstGeom prst="ellipse">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4480560"/>
            <a:ext cx="2743200" cy="2743200"/>
          </a:xfrm>
          <a:prstGeom prst="ellipse">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43000"/>
            <a:ext cx="6858000" cy="411480"/>
          </a:xfrm>
          <a:prstGeom prst="rect">
            <a:avLst/>
          </a:prstGeom>
          <a:noFill/>
        </p:spPr>
        <p:txBody>
          <a:bodyPr wrap="square" lIns="73152" rIns="73152" tIns="73152" bIns="73152">
            <a:spAutoFit/>
          </a:bodyPr>
          <a:lstStyle/>
          <a:p>
            <a:pPr algn="l"/>
            <a:r>
              <a:rPr sz="1800" b="1">
                <a:solidFill>
                  <a:srgbClr val="237D7D"/>
                </a:solidFill>
                <a:latin typeface="Aptos"/>
              </a:rPr>
              <a:t>VOLUNTEER PROJECT</a:t>
            </a:r>
          </a:p>
        </p:txBody>
      </p:sp>
      <p:sp>
        <p:nvSpPr>
          <p:cNvPr id="6" name="TextBox 5"/>
          <p:cNvSpPr txBox="1"/>
          <p:nvPr/>
        </p:nvSpPr>
        <p:spPr>
          <a:xfrm>
            <a:off x="685800" y="1645920"/>
            <a:ext cx="7498079" cy="1645920"/>
          </a:xfrm>
          <a:prstGeom prst="rect">
            <a:avLst/>
          </a:prstGeom>
          <a:noFill/>
        </p:spPr>
        <p:txBody>
          <a:bodyPr wrap="square" lIns="73152" rIns="73152" tIns="73152" bIns="73152">
            <a:spAutoFit/>
          </a:bodyPr>
          <a:lstStyle/>
          <a:p>
            <a:pPr algn="l"/>
            <a:r>
              <a:rPr sz="4200" b="1">
                <a:solidFill>
                  <a:srgbClr val="14374B"/>
                </a:solidFill>
                <a:latin typeface="Aptos"/>
              </a:rPr>
              <a:t>Beach Clean-Up
Project</a:t>
            </a:r>
          </a:p>
        </p:txBody>
      </p:sp>
      <p:sp>
        <p:nvSpPr>
          <p:cNvPr id="7" name="TextBox 6"/>
          <p:cNvSpPr txBox="1"/>
          <p:nvPr/>
        </p:nvSpPr>
        <p:spPr>
          <a:xfrm>
            <a:off x="731520" y="3657600"/>
            <a:ext cx="6858000" cy="731520"/>
          </a:xfrm>
          <a:prstGeom prst="rect">
            <a:avLst/>
          </a:prstGeom>
          <a:noFill/>
        </p:spPr>
        <p:txBody>
          <a:bodyPr wrap="square" lIns="73152" rIns="73152" tIns="73152" bIns="73152">
            <a:spAutoFit/>
          </a:bodyPr>
          <a:lstStyle/>
          <a:p>
            <a:pPr algn="l"/>
            <a:r>
              <a:rPr sz="2000" b="0">
                <a:solidFill>
                  <a:srgbClr val="282828"/>
                </a:solidFill>
                <a:latin typeface="Aptos"/>
              </a:rPr>
              <a:t>Making our coastline cleaner, safer and healthier through community volunteering.</a:t>
            </a:r>
          </a:p>
        </p:txBody>
      </p:sp>
      <p:sp>
        <p:nvSpPr>
          <p:cNvPr id="8" name="TextBox 7"/>
          <p:cNvSpPr txBox="1"/>
          <p:nvPr/>
        </p:nvSpPr>
        <p:spPr>
          <a:xfrm>
            <a:off x="731520" y="4983480"/>
            <a:ext cx="6858000" cy="822960"/>
          </a:xfrm>
          <a:prstGeom prst="rect">
            <a:avLst/>
          </a:prstGeom>
          <a:noFill/>
        </p:spPr>
        <p:txBody>
          <a:bodyPr wrap="square" lIns="73152" rIns="73152" tIns="73152" bIns="73152">
            <a:spAutoFit/>
          </a:bodyPr>
          <a:lstStyle/>
          <a:p>
            <a:pPr algn="l"/>
            <a:r>
              <a:rPr sz="1600" b="0">
                <a:solidFill>
                  <a:srgbClr val="696969"/>
                </a:solidFill>
                <a:latin typeface="Aptos"/>
              </a:rPr>
              <a:t>Presented by: Melusi Buthelezi, Philasande Shozi, Lwazi Gamede, Tlotliso Lekhoba, Amahle Xulu, Sinoyolo Lumkwana
Class: [Insert class]   Date: [Insert date]</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a:t>
            </a:r>
          </a:p>
        </p:txBody>
      </p:sp>
      <p:sp>
        <p:nvSpPr>
          <p:cNvPr id="10" name="TextBox 9"/>
          <p:cNvSpPr txBox="1"/>
          <p:nvPr/>
        </p:nvSpPr>
        <p:spPr>
          <a:xfrm>
            <a:off x="731520" y="4709160"/>
            <a:ext cx="7772400" cy="1417320"/>
          </a:xfrm>
          <a:prstGeom prst="rect">
            <a:avLst/>
          </a:prstGeom>
          <a:noFill/>
        </p:spPr>
        <p:txBody>
          <a:bodyPr wrap="square">
            <a:spAutoFit/>
          </a:bodyPr>
          <a:lstStyle/>
          <a:p>
            <a:r>
              <a:rPr sz="1500" b="1">
                <a:latin typeface="Aptos"/>
              </a:rPr>
              <a:t>Group Members:</a:t>
            </a:r>
          </a:p>
          <a:p>
            <a:pPr>
              <a:spcAft>
                <a:spcPts val="0"/>
              </a:spcAft>
              <a:defRPr sz="1300">
                <a:latin typeface="Aptos"/>
              </a:defRPr>
            </a:pPr>
            <a:r>
              <a:t>Melusi Buthelezi</a:t>
            </a:r>
          </a:p>
          <a:p>
            <a:pPr>
              <a:spcAft>
                <a:spcPts val="0"/>
              </a:spcAft>
              <a:defRPr sz="1300">
                <a:latin typeface="Aptos"/>
              </a:defRPr>
            </a:pPr>
            <a:r>
              <a:t>Philasande Shozi</a:t>
            </a:r>
          </a:p>
          <a:p>
            <a:pPr>
              <a:spcAft>
                <a:spcPts val="0"/>
              </a:spcAft>
              <a:defRPr sz="1300">
                <a:latin typeface="Aptos"/>
              </a:defRPr>
            </a:pPr>
            <a:r>
              <a:t>Lwazi Gamede</a:t>
            </a:r>
          </a:p>
          <a:p>
            <a:pPr>
              <a:spcAft>
                <a:spcPts val="0"/>
              </a:spcAft>
              <a:defRPr sz="1300">
                <a:latin typeface="Aptos"/>
              </a:defRPr>
            </a:pPr>
            <a:r>
              <a:t>Tlotliso Lekhoba</a:t>
            </a:r>
          </a:p>
          <a:p>
            <a:pPr>
              <a:spcAft>
                <a:spcPts val="0"/>
              </a:spcAft>
              <a:defRPr sz="1300">
                <a:latin typeface="Aptos"/>
              </a:defRPr>
            </a:pPr>
            <a:r>
              <a:t>Amahle Xulu</a:t>
            </a:r>
          </a:p>
          <a:p>
            <a:pPr>
              <a:spcAft>
                <a:spcPts val="0"/>
              </a:spcAft>
              <a:defRPr sz="1300">
                <a:latin typeface="Aptos"/>
              </a:defRPr>
            </a:pPr>
            <a:r>
              <a:t>Sinoyolo Lumkwana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1. Organisation Identified</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The organisation must be relevant to the topic of the project.</a:t>
            </a:r>
          </a:p>
        </p:txBody>
      </p:sp>
      <p:sp>
        <p:nvSpPr>
          <p:cNvPr id="5" name="Rounded Rectangle 4"/>
          <p:cNvSpPr/>
          <p:nvPr/>
        </p:nvSpPr>
        <p:spPr>
          <a:xfrm>
            <a:off x="731520" y="1554480"/>
            <a:ext cx="5212080" cy="34747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109728" cy="34747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19072"/>
            <a:ext cx="4846320" cy="411480"/>
          </a:xfrm>
          <a:prstGeom prst="rect">
            <a:avLst/>
          </a:prstGeom>
          <a:noFill/>
        </p:spPr>
        <p:txBody>
          <a:bodyPr wrap="square" lIns="73152" rIns="73152" tIns="73152" bIns="73152">
            <a:spAutoFit/>
          </a:bodyPr>
          <a:lstStyle/>
          <a:p>
            <a:pPr algn="l"/>
            <a:r>
              <a:rPr sz="1800" b="1">
                <a:solidFill>
                  <a:srgbClr val="14374B"/>
                </a:solidFill>
                <a:latin typeface="Aptos"/>
              </a:rPr>
              <a:t>Organisation</a:t>
            </a:r>
          </a:p>
        </p:txBody>
      </p:sp>
      <p:sp>
        <p:nvSpPr>
          <p:cNvPr id="8" name="TextBox 7"/>
          <p:cNvSpPr txBox="1"/>
          <p:nvPr/>
        </p:nvSpPr>
        <p:spPr>
          <a:xfrm>
            <a:off x="960120" y="2212848"/>
            <a:ext cx="4800600" cy="2651760"/>
          </a:xfrm>
          <a:prstGeom prst="rect">
            <a:avLst/>
          </a:prstGeom>
          <a:noFill/>
        </p:spPr>
        <p:txBody>
          <a:bodyPr wrap="square" lIns="73152" rIns="73152" tIns="73152" bIns="73152">
            <a:spAutoFit/>
          </a:bodyPr>
          <a:lstStyle/>
          <a:p>
            <a:pPr algn="l"/>
            <a:r>
              <a:rPr sz="1400" b="0">
                <a:solidFill>
                  <a:srgbClr val="282828"/>
                </a:solidFill>
                <a:latin typeface="Aptos"/>
              </a:rPr>
              <a:t>Local Community Beach Clean-Up Project
This is a community-based environmental volunteering initiative that helps keep public beaches clean and protects the coastal environment.</a:t>
            </a:r>
          </a:p>
        </p:txBody>
      </p:sp>
      <p:sp>
        <p:nvSpPr>
          <p:cNvPr id="9" name="Rounded Rectangle 8"/>
          <p:cNvSpPr/>
          <p:nvPr/>
        </p:nvSpPr>
        <p:spPr>
          <a:xfrm>
            <a:off x="6263640" y="1554480"/>
            <a:ext cx="5212080" cy="34747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554480"/>
            <a:ext cx="109728" cy="34747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19072"/>
            <a:ext cx="4846320" cy="411480"/>
          </a:xfrm>
          <a:prstGeom prst="rect">
            <a:avLst/>
          </a:prstGeom>
          <a:noFill/>
        </p:spPr>
        <p:txBody>
          <a:bodyPr wrap="square" lIns="73152" rIns="73152" tIns="73152" bIns="73152">
            <a:spAutoFit/>
          </a:bodyPr>
          <a:lstStyle/>
          <a:p>
            <a:pPr algn="l"/>
            <a:r>
              <a:rPr sz="1800" b="1">
                <a:solidFill>
                  <a:srgbClr val="14374B"/>
                </a:solidFill>
                <a:latin typeface="Aptos"/>
              </a:rPr>
              <a:t>Why it is relevant</a:t>
            </a:r>
          </a:p>
        </p:txBody>
      </p:sp>
      <p:sp>
        <p:nvSpPr>
          <p:cNvPr id="12" name="TextBox 11"/>
          <p:cNvSpPr txBox="1"/>
          <p:nvPr/>
        </p:nvSpPr>
        <p:spPr>
          <a:xfrm>
            <a:off x="6492240" y="2212848"/>
            <a:ext cx="4800600" cy="2651760"/>
          </a:xfrm>
          <a:prstGeom prst="rect">
            <a:avLst/>
          </a:prstGeom>
          <a:noFill/>
        </p:spPr>
        <p:txBody>
          <a:bodyPr wrap="square" lIns="73152" rIns="73152" tIns="73152" bIns="73152">
            <a:spAutoFit/>
          </a:bodyPr>
          <a:lstStyle/>
          <a:p>
            <a:pPr algn="l"/>
            <a:r>
              <a:rPr sz="1400" b="0">
                <a:solidFill>
                  <a:srgbClr val="282828"/>
                </a:solidFill>
                <a:latin typeface="Aptos"/>
              </a:rPr>
              <a:t>The organisation is directly relevant because our project focused on volunteering to remove litter from the beach and improve the environment for people, animals and the wider community.</a:t>
            </a:r>
          </a:p>
        </p:txBody>
      </p:sp>
      <p:sp>
        <p:nvSpPr>
          <p:cNvPr id="13" name="TextBox 12"/>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2. Reason for Choosing the Organisation</a:t>
            </a:r>
          </a:p>
        </p:txBody>
      </p:sp>
      <p:sp>
        <p:nvSpPr>
          <p:cNvPr id="4" name="TextBox 3"/>
          <p:cNvSpPr txBox="1"/>
          <p:nvPr/>
        </p:nvSpPr>
        <p:spPr>
          <a:xfrm>
            <a:off x="914400" y="1645920"/>
            <a:ext cx="10332720" cy="2194560"/>
          </a:xfrm>
          <a:prstGeom prst="rect">
            <a:avLst/>
          </a:prstGeom>
          <a:noFill/>
        </p:spPr>
        <p:txBody>
          <a:bodyPr wrap="square" lIns="73152" rIns="73152" tIns="73152" bIns="73152">
            <a:spAutoFit/>
          </a:bodyPr>
          <a:lstStyle/>
          <a:p>
            <a:pPr algn="l"/>
            <a:r>
              <a:rPr sz="2500" b="0">
                <a:solidFill>
                  <a:srgbClr val="282828"/>
                </a:solidFill>
                <a:latin typeface="Aptos"/>
              </a:rPr>
              <a:t>We chose this organisation because we wanted to contribute directly to protecting the environment by helping to remove litter from the beach. Beach pollution can make public spaces unsafe and can harm marine life, so volunteering in a clean-up project allowed us to make a practical and positive difference in our community.</a:t>
            </a:r>
          </a:p>
        </p:txBody>
      </p:sp>
      <p:sp>
        <p:nvSpPr>
          <p:cNvPr id="5" name="Rounded Rectangle 4"/>
          <p:cNvSpPr/>
          <p:nvPr/>
        </p:nvSpPr>
        <p:spPr>
          <a:xfrm>
            <a:off x="1828800" y="4389120"/>
            <a:ext cx="8503920" cy="11430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0" y="4389120"/>
            <a:ext cx="109728" cy="11430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4553712"/>
            <a:ext cx="8138160" cy="411480"/>
          </a:xfrm>
          <a:prstGeom prst="rect">
            <a:avLst/>
          </a:prstGeom>
          <a:noFill/>
        </p:spPr>
        <p:txBody>
          <a:bodyPr wrap="square" lIns="73152" rIns="73152" tIns="73152" bIns="73152">
            <a:spAutoFit/>
          </a:bodyPr>
          <a:lstStyle/>
          <a:p>
            <a:pPr algn="l"/>
            <a:r>
              <a:rPr sz="1800" b="1">
                <a:solidFill>
                  <a:srgbClr val="14374B"/>
                </a:solidFill>
                <a:latin typeface="Aptos"/>
              </a:rPr>
              <a:t>Main objective</a:t>
            </a:r>
          </a:p>
        </p:txBody>
      </p:sp>
      <p:sp>
        <p:nvSpPr>
          <p:cNvPr id="8" name="TextBox 7"/>
          <p:cNvSpPr txBox="1"/>
          <p:nvPr/>
        </p:nvSpPr>
        <p:spPr>
          <a:xfrm>
            <a:off x="2057400" y="5047488"/>
            <a:ext cx="8092440" cy="320040"/>
          </a:xfrm>
          <a:prstGeom prst="rect">
            <a:avLst/>
          </a:prstGeom>
          <a:noFill/>
        </p:spPr>
        <p:txBody>
          <a:bodyPr wrap="square" lIns="73152" rIns="73152" tIns="73152" bIns="73152">
            <a:spAutoFit/>
          </a:bodyPr>
          <a:lstStyle/>
          <a:p>
            <a:pPr algn="l"/>
            <a:r>
              <a:rPr sz="1400" b="0">
                <a:solidFill>
                  <a:srgbClr val="282828"/>
                </a:solidFill>
                <a:latin typeface="Aptos"/>
              </a:rPr>
              <a:t>To help create a cleaner, safer and healthier beach environment through practical community service.</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3. Four Needs Identified</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Needs identified during the visit before volunteering began.</a:t>
            </a:r>
          </a:p>
        </p:txBody>
      </p:sp>
      <p:sp>
        <p:nvSpPr>
          <p:cNvPr id="5" name="Rounded Rectangle 4"/>
          <p:cNvSpPr/>
          <p:nvPr/>
        </p:nvSpPr>
        <p:spPr>
          <a:xfrm>
            <a:off x="822960" y="155448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554480"/>
            <a:ext cx="109728" cy="16002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719072"/>
            <a:ext cx="4709159" cy="411480"/>
          </a:xfrm>
          <a:prstGeom prst="rect">
            <a:avLst/>
          </a:prstGeom>
          <a:noFill/>
        </p:spPr>
        <p:txBody>
          <a:bodyPr wrap="square" lIns="73152" rIns="73152" tIns="73152" bIns="73152">
            <a:spAutoFit/>
          </a:bodyPr>
          <a:lstStyle/>
          <a:p>
            <a:pPr algn="l"/>
            <a:r>
              <a:rPr sz="1800" b="1">
                <a:solidFill>
                  <a:srgbClr val="14374B"/>
                </a:solidFill>
                <a:latin typeface="Aptos"/>
              </a:rPr>
              <a:t>1</a:t>
            </a:r>
          </a:p>
        </p:txBody>
      </p:sp>
      <p:sp>
        <p:nvSpPr>
          <p:cNvPr id="8" name="TextBox 7"/>
          <p:cNvSpPr txBox="1"/>
          <p:nvPr/>
        </p:nvSpPr>
        <p:spPr>
          <a:xfrm>
            <a:off x="1051560" y="2212848"/>
            <a:ext cx="4663440" cy="777240"/>
          </a:xfrm>
          <a:prstGeom prst="rect">
            <a:avLst/>
          </a:prstGeom>
          <a:noFill/>
        </p:spPr>
        <p:txBody>
          <a:bodyPr wrap="square" lIns="73152" rIns="73152" tIns="73152" bIns="73152">
            <a:spAutoFit/>
          </a:bodyPr>
          <a:lstStyle/>
          <a:p>
            <a:pPr algn="l"/>
            <a:r>
              <a:rPr sz="1400" b="0">
                <a:solidFill>
                  <a:srgbClr val="282828"/>
                </a:solidFill>
                <a:latin typeface="Aptos"/>
              </a:rPr>
              <a:t>Litter and plastic waste on the beach</a:t>
            </a:r>
          </a:p>
        </p:txBody>
      </p:sp>
      <p:sp>
        <p:nvSpPr>
          <p:cNvPr id="9" name="Rounded Rectangle 8"/>
          <p:cNvSpPr/>
          <p:nvPr/>
        </p:nvSpPr>
        <p:spPr>
          <a:xfrm>
            <a:off x="822960" y="388620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886200"/>
            <a:ext cx="109728" cy="160020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50791"/>
            <a:ext cx="4709159" cy="411480"/>
          </a:xfrm>
          <a:prstGeom prst="rect">
            <a:avLst/>
          </a:prstGeom>
          <a:noFill/>
        </p:spPr>
        <p:txBody>
          <a:bodyPr wrap="square" lIns="73152" rIns="73152" tIns="73152" bIns="73152">
            <a:spAutoFit/>
          </a:bodyPr>
          <a:lstStyle/>
          <a:p>
            <a:pPr algn="l"/>
            <a:r>
              <a:rPr sz="1800" b="1">
                <a:solidFill>
                  <a:srgbClr val="14374B"/>
                </a:solidFill>
                <a:latin typeface="Aptos"/>
              </a:rPr>
              <a:t>2</a:t>
            </a:r>
          </a:p>
        </p:txBody>
      </p:sp>
      <p:sp>
        <p:nvSpPr>
          <p:cNvPr id="12" name="TextBox 11"/>
          <p:cNvSpPr txBox="1"/>
          <p:nvPr/>
        </p:nvSpPr>
        <p:spPr>
          <a:xfrm>
            <a:off x="1051560" y="4544568"/>
            <a:ext cx="4663440" cy="777240"/>
          </a:xfrm>
          <a:prstGeom prst="rect">
            <a:avLst/>
          </a:prstGeom>
          <a:noFill/>
        </p:spPr>
        <p:txBody>
          <a:bodyPr wrap="square" lIns="73152" rIns="73152" tIns="73152" bIns="73152">
            <a:spAutoFit/>
          </a:bodyPr>
          <a:lstStyle/>
          <a:p>
            <a:pPr algn="l"/>
            <a:r>
              <a:rPr sz="1400" b="0">
                <a:solidFill>
                  <a:srgbClr val="282828"/>
                </a:solidFill>
                <a:latin typeface="Aptos"/>
              </a:rPr>
              <a:t>Insufficient regular cleaning and maintenance</a:t>
            </a:r>
          </a:p>
        </p:txBody>
      </p:sp>
      <p:sp>
        <p:nvSpPr>
          <p:cNvPr id="13" name="Rounded Rectangle 12"/>
          <p:cNvSpPr/>
          <p:nvPr/>
        </p:nvSpPr>
        <p:spPr>
          <a:xfrm>
            <a:off x="6263640" y="155448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54480"/>
            <a:ext cx="109728" cy="160020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19072"/>
            <a:ext cx="4709159" cy="411480"/>
          </a:xfrm>
          <a:prstGeom prst="rect">
            <a:avLst/>
          </a:prstGeom>
          <a:noFill/>
        </p:spPr>
        <p:txBody>
          <a:bodyPr wrap="square" lIns="73152" rIns="73152" tIns="73152" bIns="73152">
            <a:spAutoFit/>
          </a:bodyPr>
          <a:lstStyle/>
          <a:p>
            <a:pPr algn="l"/>
            <a:r>
              <a:rPr sz="1800" b="1">
                <a:solidFill>
                  <a:srgbClr val="14374B"/>
                </a:solidFill>
                <a:latin typeface="Aptos"/>
              </a:rPr>
              <a:t>3</a:t>
            </a:r>
          </a:p>
        </p:txBody>
      </p:sp>
      <p:sp>
        <p:nvSpPr>
          <p:cNvPr id="16" name="TextBox 15"/>
          <p:cNvSpPr txBox="1"/>
          <p:nvPr/>
        </p:nvSpPr>
        <p:spPr>
          <a:xfrm>
            <a:off x="6492240" y="2212848"/>
            <a:ext cx="4663440" cy="777240"/>
          </a:xfrm>
          <a:prstGeom prst="rect">
            <a:avLst/>
          </a:prstGeom>
          <a:noFill/>
        </p:spPr>
        <p:txBody>
          <a:bodyPr wrap="square" lIns="73152" rIns="73152" tIns="73152" bIns="73152">
            <a:spAutoFit/>
          </a:bodyPr>
          <a:lstStyle/>
          <a:p>
            <a:pPr algn="l"/>
            <a:r>
              <a:rPr sz="1400" b="0">
                <a:solidFill>
                  <a:srgbClr val="282828"/>
                </a:solidFill>
                <a:latin typeface="Aptos"/>
              </a:rPr>
              <a:t>Limited public awareness about responsible waste disposal</a:t>
            </a:r>
          </a:p>
        </p:txBody>
      </p:sp>
      <p:sp>
        <p:nvSpPr>
          <p:cNvPr id="17" name="Rounded Rectangle 16"/>
          <p:cNvSpPr/>
          <p:nvPr/>
        </p:nvSpPr>
        <p:spPr>
          <a:xfrm>
            <a:off x="6263640" y="3886200"/>
            <a:ext cx="5074920" cy="160020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886200"/>
            <a:ext cx="109728" cy="160020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50791"/>
            <a:ext cx="4709159" cy="411480"/>
          </a:xfrm>
          <a:prstGeom prst="rect">
            <a:avLst/>
          </a:prstGeom>
          <a:noFill/>
        </p:spPr>
        <p:txBody>
          <a:bodyPr wrap="square" lIns="73152" rIns="73152" tIns="73152" bIns="73152">
            <a:spAutoFit/>
          </a:bodyPr>
          <a:lstStyle/>
          <a:p>
            <a:pPr algn="l"/>
            <a:r>
              <a:rPr sz="1800" b="1">
                <a:solidFill>
                  <a:srgbClr val="14374B"/>
                </a:solidFill>
                <a:latin typeface="Aptos"/>
              </a:rPr>
              <a:t>4</a:t>
            </a:r>
          </a:p>
        </p:txBody>
      </p:sp>
      <p:sp>
        <p:nvSpPr>
          <p:cNvPr id="20" name="TextBox 19"/>
          <p:cNvSpPr txBox="1"/>
          <p:nvPr/>
        </p:nvSpPr>
        <p:spPr>
          <a:xfrm>
            <a:off x="6492240" y="4544568"/>
            <a:ext cx="4663440" cy="777240"/>
          </a:xfrm>
          <a:prstGeom prst="rect">
            <a:avLst/>
          </a:prstGeom>
          <a:noFill/>
        </p:spPr>
        <p:txBody>
          <a:bodyPr wrap="square" lIns="73152" rIns="73152" tIns="73152" bIns="73152">
            <a:spAutoFit/>
          </a:bodyPr>
          <a:lstStyle/>
          <a:p>
            <a:pPr algn="l"/>
            <a:r>
              <a:rPr sz="1400" b="0">
                <a:solidFill>
                  <a:srgbClr val="282828"/>
                </a:solidFill>
                <a:latin typeface="Aptos"/>
              </a:rPr>
              <a:t>The need for teamwork and additional volunteers during clean-up activities</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4. Practical Ways We Addressed the Needs</a:t>
            </a:r>
          </a:p>
        </p:txBody>
      </p:sp>
      <p:sp>
        <p:nvSpPr>
          <p:cNvPr id="4" name="TextBox 3"/>
          <p:cNvSpPr txBox="1"/>
          <p:nvPr/>
        </p:nvSpPr>
        <p:spPr>
          <a:xfrm>
            <a:off x="914400" y="1508760"/>
            <a:ext cx="10332720" cy="4480560"/>
          </a:xfrm>
          <a:prstGeom prst="rect">
            <a:avLst/>
          </a:prstGeom>
          <a:noFill/>
        </p:spPr>
        <p:txBody>
          <a:bodyPr wrap="square" lIns="73152" rIns="73152">
            <a:spAutoFit/>
          </a:bodyPr>
          <a:lstStyle/>
          <a:p>
            <a:pPr>
              <a:spcAft>
                <a:spcPts val="1000"/>
              </a:spcAft>
              <a:defRPr sz="2200">
                <a:solidFill>
                  <a:srgbClr val="282828"/>
                </a:solidFill>
                <a:latin typeface="Aptos"/>
              </a:defRPr>
            </a:pPr>
            <a:r>
              <a:t>Collect litter and plastic waste and place it into the correct rubbish bags or containers.</a:t>
            </a:r>
          </a:p>
          <a:p>
            <a:pPr>
              <a:spcAft>
                <a:spcPts val="1000"/>
              </a:spcAft>
              <a:defRPr sz="2200">
                <a:solidFill>
                  <a:srgbClr val="282828"/>
                </a:solidFill>
                <a:latin typeface="Aptos"/>
              </a:defRPr>
            </a:pPr>
            <a:r>
              <a:t>Clean the beach area by removing visible waste from the sand and surrounding areas.</a:t>
            </a:r>
          </a:p>
          <a:p>
            <a:pPr>
              <a:spcAft>
                <a:spcPts val="1000"/>
              </a:spcAft>
              <a:defRPr sz="2200">
                <a:solidFill>
                  <a:srgbClr val="282828"/>
                </a:solidFill>
                <a:latin typeface="Aptos"/>
              </a:defRPr>
            </a:pPr>
            <a:r>
              <a:t>Encourage awareness by setting a good example and reminding people to dispose of waste responsibly.</a:t>
            </a:r>
          </a:p>
          <a:p>
            <a:pPr>
              <a:spcAft>
                <a:spcPts val="1000"/>
              </a:spcAft>
              <a:defRPr sz="2200">
                <a:solidFill>
                  <a:srgbClr val="282828"/>
                </a:solidFill>
                <a:latin typeface="Aptos"/>
              </a:defRPr>
            </a:pPr>
            <a:r>
              <a:t>Work as a team by dividing tasks, cooperating with other volunteers and helping to maintain the clean-up area.</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5. Volunteering Activities and Group Roles</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Replace the placeholders below with the actual names of your group members.</a:t>
            </a:r>
          </a:p>
        </p:txBody>
      </p:sp>
      <p:sp>
        <p:nvSpPr>
          <p:cNvPr id="5" name="Rounded Rectangle 4"/>
          <p:cNvSpPr/>
          <p:nvPr/>
        </p:nvSpPr>
        <p:spPr>
          <a:xfrm>
            <a:off x="685800" y="132588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109728" cy="2148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90472"/>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1: Melusi Buthelezi</a:t>
            </a:r>
          </a:p>
        </p:txBody>
      </p:sp>
      <p:sp>
        <p:nvSpPr>
          <p:cNvPr id="8" name="TextBox 7"/>
          <p:cNvSpPr txBox="1"/>
          <p:nvPr/>
        </p:nvSpPr>
        <p:spPr>
          <a:xfrm>
            <a:off x="914400" y="198424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collect litter and plastic waste from the beach. I also worked with the group to separate and place waste into the correct bags or containers.</a:t>
            </a:r>
          </a:p>
        </p:txBody>
      </p:sp>
      <p:sp>
        <p:nvSpPr>
          <p:cNvPr id="9" name="Rounded Rectangle 8"/>
          <p:cNvSpPr/>
          <p:nvPr/>
        </p:nvSpPr>
        <p:spPr>
          <a:xfrm>
            <a:off x="685800" y="388620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3886200"/>
            <a:ext cx="109728" cy="214884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0791"/>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2: Philasande Shozi</a:t>
            </a:r>
          </a:p>
        </p:txBody>
      </p:sp>
      <p:sp>
        <p:nvSpPr>
          <p:cNvPr id="12" name="TextBox 11"/>
          <p:cNvSpPr txBox="1"/>
          <p:nvPr/>
        </p:nvSpPr>
        <p:spPr>
          <a:xfrm>
            <a:off x="914400" y="454456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clean the assigned beach area and checked areas where litter was difficult to see. I also assisted other group members when they needed help.</a:t>
            </a:r>
          </a:p>
        </p:txBody>
      </p:sp>
      <p:sp>
        <p:nvSpPr>
          <p:cNvPr id="13" name="Rounded Rectangle 12"/>
          <p:cNvSpPr/>
          <p:nvPr/>
        </p:nvSpPr>
        <p:spPr>
          <a:xfrm>
            <a:off x="6217920" y="132588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109728" cy="2148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490472"/>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3: Lwazi Gamede</a:t>
            </a:r>
          </a:p>
        </p:txBody>
      </p:sp>
      <p:sp>
        <p:nvSpPr>
          <p:cNvPr id="16" name="TextBox 15"/>
          <p:cNvSpPr txBox="1"/>
          <p:nvPr/>
        </p:nvSpPr>
        <p:spPr>
          <a:xfrm>
            <a:off x="6446520" y="198424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organise the group and made sure that tasks were shared fairly. I also helped keep the group focused on completing the clean-up.</a:t>
            </a:r>
          </a:p>
        </p:txBody>
      </p:sp>
      <p:sp>
        <p:nvSpPr>
          <p:cNvPr id="17" name="Rounded Rectangle 16"/>
          <p:cNvSpPr/>
          <p:nvPr/>
        </p:nvSpPr>
        <p:spPr>
          <a:xfrm>
            <a:off x="6217920" y="3886200"/>
            <a:ext cx="5303520" cy="2148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886200"/>
            <a:ext cx="109728" cy="214884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50791"/>
            <a:ext cx="4937759" cy="411480"/>
          </a:xfrm>
          <a:prstGeom prst="rect">
            <a:avLst/>
          </a:prstGeom>
          <a:noFill/>
        </p:spPr>
        <p:txBody>
          <a:bodyPr wrap="square" lIns="73152" rIns="73152" tIns="73152" bIns="73152">
            <a:spAutoFit/>
          </a:bodyPr>
          <a:lstStyle/>
          <a:p>
            <a:pPr algn="l"/>
            <a:r>
              <a:rPr sz="1800" b="1">
                <a:solidFill>
                  <a:srgbClr val="14374B"/>
                </a:solidFill>
                <a:latin typeface="Aptos"/>
              </a:rPr>
              <a:t>Member 4: Tlotliso Lekhoba</a:t>
            </a:r>
          </a:p>
        </p:txBody>
      </p:sp>
      <p:sp>
        <p:nvSpPr>
          <p:cNvPr id="20" name="TextBox 19"/>
          <p:cNvSpPr txBox="1"/>
          <p:nvPr/>
        </p:nvSpPr>
        <p:spPr>
          <a:xfrm>
            <a:off x="6446520" y="4544568"/>
            <a:ext cx="4892040" cy="1325880"/>
          </a:xfrm>
          <a:prstGeom prst="rect">
            <a:avLst/>
          </a:prstGeom>
          <a:noFill/>
        </p:spPr>
        <p:txBody>
          <a:bodyPr wrap="square" lIns="73152" rIns="73152" tIns="73152" bIns="73152">
            <a:spAutoFit/>
          </a:bodyPr>
          <a:lstStyle/>
          <a:p>
            <a:pPr algn="l"/>
            <a:r>
              <a:rPr sz="1400" b="0">
                <a:solidFill>
                  <a:srgbClr val="282828"/>
                </a:solidFill>
                <a:latin typeface="Aptos"/>
              </a:rPr>
              <a:t>I helped collect waste and contributed to keeping the beach clean. I also supported teamwork by cooperating with the other volunteers throughout the activity.</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How the 5–6 Volunteer Hours Were Used</a:t>
            </a:r>
          </a:p>
        </p:txBody>
      </p:sp>
      <p:sp>
        <p:nvSpPr>
          <p:cNvPr id="4" name="Rounded Rectangle 3"/>
          <p:cNvSpPr/>
          <p:nvPr/>
        </p:nvSpPr>
        <p:spPr>
          <a:xfrm>
            <a:off x="822960" y="155448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109728" cy="16459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19072"/>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 1</a:t>
            </a:r>
          </a:p>
        </p:txBody>
      </p:sp>
      <p:sp>
        <p:nvSpPr>
          <p:cNvPr id="7" name="TextBox 6"/>
          <p:cNvSpPr txBox="1"/>
          <p:nvPr/>
        </p:nvSpPr>
        <p:spPr>
          <a:xfrm>
            <a:off x="1051560" y="2212848"/>
            <a:ext cx="4617720" cy="822960"/>
          </a:xfrm>
          <a:prstGeom prst="rect">
            <a:avLst/>
          </a:prstGeom>
          <a:noFill/>
        </p:spPr>
        <p:txBody>
          <a:bodyPr wrap="square" lIns="73152" rIns="73152" tIns="73152" bIns="73152">
            <a:spAutoFit/>
          </a:bodyPr>
          <a:lstStyle/>
          <a:p>
            <a:pPr algn="l"/>
            <a:r>
              <a:rPr sz="1400" b="0">
                <a:solidFill>
                  <a:srgbClr val="282828"/>
                </a:solidFill>
                <a:latin typeface="Aptos"/>
              </a:rPr>
              <a:t>Arrival, safety instructions and preparation of equipment.</a:t>
            </a:r>
          </a:p>
        </p:txBody>
      </p:sp>
      <p:sp>
        <p:nvSpPr>
          <p:cNvPr id="8" name="Rounded Rectangle 7"/>
          <p:cNvSpPr/>
          <p:nvPr/>
        </p:nvSpPr>
        <p:spPr>
          <a:xfrm>
            <a:off x="6309360" y="155448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554480"/>
            <a:ext cx="109728" cy="16459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19072"/>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Hours 2–3</a:t>
            </a:r>
          </a:p>
        </p:txBody>
      </p:sp>
      <p:sp>
        <p:nvSpPr>
          <p:cNvPr id="11" name="TextBox 10"/>
          <p:cNvSpPr txBox="1"/>
          <p:nvPr/>
        </p:nvSpPr>
        <p:spPr>
          <a:xfrm>
            <a:off x="6537960" y="2212848"/>
            <a:ext cx="4617720" cy="822960"/>
          </a:xfrm>
          <a:prstGeom prst="rect">
            <a:avLst/>
          </a:prstGeom>
          <a:noFill/>
        </p:spPr>
        <p:txBody>
          <a:bodyPr wrap="square" lIns="73152" rIns="73152" tIns="73152" bIns="73152">
            <a:spAutoFit/>
          </a:bodyPr>
          <a:lstStyle/>
          <a:p>
            <a:pPr algn="l"/>
            <a:r>
              <a:rPr sz="1400" b="0">
                <a:solidFill>
                  <a:srgbClr val="282828"/>
                </a:solidFill>
                <a:latin typeface="Aptos"/>
              </a:rPr>
              <a:t>Collecting litter, plastic and other waste from the beach.</a:t>
            </a:r>
          </a:p>
        </p:txBody>
      </p:sp>
      <p:sp>
        <p:nvSpPr>
          <p:cNvPr id="12" name="Rounded Rectangle 11"/>
          <p:cNvSpPr/>
          <p:nvPr/>
        </p:nvSpPr>
        <p:spPr>
          <a:xfrm>
            <a:off x="822960" y="388620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886200"/>
            <a:ext cx="109728" cy="164592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50791"/>
            <a:ext cx="4663440" cy="411480"/>
          </a:xfrm>
          <a:prstGeom prst="rect">
            <a:avLst/>
          </a:prstGeom>
          <a:noFill/>
        </p:spPr>
        <p:txBody>
          <a:bodyPr wrap="square" lIns="73152" rIns="73152" tIns="73152" bIns="73152">
            <a:spAutoFit/>
          </a:bodyPr>
          <a:lstStyle/>
          <a:p>
            <a:pPr algn="l"/>
            <a:r>
              <a:rPr sz="1800" b="1">
                <a:solidFill>
                  <a:srgbClr val="14374B"/>
                </a:solidFill>
                <a:latin typeface="Aptos"/>
              </a:rPr>
              <a:t>Hours 4–5</a:t>
            </a:r>
          </a:p>
        </p:txBody>
      </p:sp>
      <p:sp>
        <p:nvSpPr>
          <p:cNvPr id="15" name="TextBox 14"/>
          <p:cNvSpPr txBox="1"/>
          <p:nvPr/>
        </p:nvSpPr>
        <p:spPr>
          <a:xfrm>
            <a:off x="1051560" y="4544568"/>
            <a:ext cx="4617720" cy="822960"/>
          </a:xfrm>
          <a:prstGeom prst="rect">
            <a:avLst/>
          </a:prstGeom>
          <a:noFill/>
        </p:spPr>
        <p:txBody>
          <a:bodyPr wrap="square" lIns="73152" rIns="73152" tIns="73152" bIns="73152">
            <a:spAutoFit/>
          </a:bodyPr>
          <a:lstStyle/>
          <a:p>
            <a:pPr algn="l"/>
            <a:r>
              <a:rPr sz="1400" b="0">
                <a:solidFill>
                  <a:srgbClr val="282828"/>
                </a:solidFill>
                <a:latin typeface="Aptos"/>
              </a:rPr>
              <a:t>Continuing the clean-up, checking the area and helping other volunteers.</a:t>
            </a:r>
          </a:p>
        </p:txBody>
      </p:sp>
      <p:sp>
        <p:nvSpPr>
          <p:cNvPr id="16" name="Rounded Rectangle 15"/>
          <p:cNvSpPr/>
          <p:nvPr/>
        </p:nvSpPr>
        <p:spPr>
          <a:xfrm>
            <a:off x="6309360" y="3886200"/>
            <a:ext cx="5029200" cy="164592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886200"/>
            <a:ext cx="109728" cy="1645920"/>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050791"/>
            <a:ext cx="4663440" cy="411480"/>
          </a:xfrm>
          <a:prstGeom prst="rect">
            <a:avLst/>
          </a:prstGeom>
          <a:noFill/>
        </p:spPr>
        <p:txBody>
          <a:bodyPr wrap="square" lIns="73152" rIns="73152" tIns="73152" bIns="73152">
            <a:spAutoFit/>
          </a:bodyPr>
          <a:lstStyle/>
          <a:p>
            <a:pPr algn="l"/>
            <a:r>
              <a:rPr sz="1800" b="1">
                <a:solidFill>
                  <a:srgbClr val="14374B"/>
                </a:solidFill>
                <a:latin typeface="Aptos"/>
              </a:rPr>
              <a:t>Final hour</a:t>
            </a:r>
          </a:p>
        </p:txBody>
      </p:sp>
      <p:sp>
        <p:nvSpPr>
          <p:cNvPr id="19" name="TextBox 18"/>
          <p:cNvSpPr txBox="1"/>
          <p:nvPr/>
        </p:nvSpPr>
        <p:spPr>
          <a:xfrm>
            <a:off x="6537960" y="4544568"/>
            <a:ext cx="4617720" cy="822960"/>
          </a:xfrm>
          <a:prstGeom prst="rect">
            <a:avLst/>
          </a:prstGeom>
          <a:noFill/>
        </p:spPr>
        <p:txBody>
          <a:bodyPr wrap="square" lIns="73152" rIns="73152" tIns="73152" bIns="73152">
            <a:spAutoFit/>
          </a:bodyPr>
          <a:lstStyle/>
          <a:p>
            <a:pPr algn="l"/>
            <a:r>
              <a:rPr sz="1400" b="0">
                <a:solidFill>
                  <a:srgbClr val="282828"/>
                </a:solidFill>
                <a:latin typeface="Aptos"/>
              </a:rPr>
              <a:t>Sorting and disposing of collected waste, packing equipment and reviewing the work completed.</a:t>
            </a:r>
          </a:p>
        </p:txBody>
      </p:sp>
      <p:sp>
        <p:nvSpPr>
          <p:cNvPr id="20" name="TextBox 19"/>
          <p:cNvSpPr txBox="1"/>
          <p:nvPr/>
        </p:nvSpPr>
        <p:spPr>
          <a:xfrm>
            <a:off x="914400" y="5852160"/>
            <a:ext cx="10241280" cy="411480"/>
          </a:xfrm>
          <a:prstGeom prst="rect">
            <a:avLst/>
          </a:prstGeom>
          <a:noFill/>
        </p:spPr>
        <p:txBody>
          <a:bodyPr wrap="square" lIns="73152" rIns="73152" tIns="73152" bIns="73152">
            <a:spAutoFit/>
          </a:bodyPr>
          <a:lstStyle/>
          <a:p>
            <a:pPr algn="ctr"/>
            <a:r>
              <a:rPr sz="1800" b="1">
                <a:solidFill>
                  <a:srgbClr val="14374B"/>
                </a:solidFill>
                <a:latin typeface="Aptos"/>
              </a:rPr>
              <a:t>Total time spent volunteering: 5–6 hours (according to the completed timesheet).</a:t>
            </a:r>
          </a:p>
        </p:txBody>
      </p:sp>
      <p:sp>
        <p:nvSpPr>
          <p:cNvPr id="21" name="TextBox 2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Evidence of Participation</a:t>
            </a:r>
          </a:p>
        </p:txBody>
      </p:sp>
      <p:sp>
        <p:nvSpPr>
          <p:cNvPr id="4" name="TextBox 3"/>
          <p:cNvSpPr txBox="1"/>
          <p:nvPr/>
        </p:nvSpPr>
        <p:spPr>
          <a:xfrm>
            <a:off x="640080" y="960120"/>
            <a:ext cx="10789920" cy="365760"/>
          </a:xfrm>
          <a:prstGeom prst="rect">
            <a:avLst/>
          </a:prstGeom>
          <a:noFill/>
        </p:spPr>
        <p:txBody>
          <a:bodyPr wrap="square" lIns="73152" rIns="73152" tIns="73152" bIns="73152">
            <a:spAutoFit/>
          </a:bodyPr>
          <a:lstStyle/>
          <a:p>
            <a:pPr algn="l"/>
            <a:r>
              <a:rPr sz="1400" b="0">
                <a:solidFill>
                  <a:srgbClr val="696969"/>
                </a:solidFill>
                <a:latin typeface="Aptos"/>
              </a:rPr>
              <a:t>Insert at least three photographs. Every group member should appear in at least two photos.</a:t>
            </a:r>
          </a:p>
        </p:txBody>
      </p:sp>
      <p:sp>
        <p:nvSpPr>
          <p:cNvPr id="11" name="TextBox 10"/>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8</a:t>
            </a:r>
          </a:p>
        </p:txBody>
      </p:sp>
      <p:sp>
        <p:nvSpPr>
          <p:cNvPr id="12" name="Rectangle 11"/>
          <p:cNvSpPr/>
          <p:nvPr/>
        </p:nvSpPr>
        <p:spPr>
          <a:xfrm>
            <a:off x="502920"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000578708.jpg"/>
          <p:cNvPicPr>
            <a:picLocks noChangeAspect="1"/>
          </p:cNvPicPr>
          <p:nvPr/>
        </p:nvPicPr>
        <p:blipFill>
          <a:blip r:embed="rId5"/>
          <a:stretch>
            <a:fillRect/>
          </a:stretch>
        </p:blipFill>
        <p:spPr>
          <a:xfrm>
            <a:off x="576072" y="1490472"/>
            <a:ext cx="3511296" cy="3931920"/>
          </a:xfrm>
          <a:prstGeom prst="rect">
            <a:avLst/>
          </a:prstGeom>
        </p:spPr>
      </p:pic>
      <p:sp>
        <p:nvSpPr>
          <p:cNvPr id="14" name="TextBox 13"/>
          <p:cNvSpPr txBox="1"/>
          <p:nvPr/>
        </p:nvSpPr>
        <p:spPr>
          <a:xfrm>
            <a:off x="594360" y="5468112"/>
            <a:ext cx="3474720" cy="256032"/>
          </a:xfrm>
          <a:prstGeom prst="rect">
            <a:avLst/>
          </a:prstGeom>
          <a:noFill/>
        </p:spPr>
        <p:txBody>
          <a:bodyPr wrap="none">
            <a:spAutoFit/>
          </a:bodyPr>
          <a:lstStyle/>
          <a:p>
            <a:pPr algn="l"/>
            <a:r>
              <a:rPr sz="1000" b="1">
                <a:solidFill>
                  <a:srgbClr val="464646"/>
                </a:solidFill>
                <a:latin typeface="Aptos"/>
              </a:rPr>
              <a:t>Photo 4: Group collecting waste</a:t>
            </a:r>
          </a:p>
        </p:txBody>
      </p:sp>
      <p:sp>
        <p:nvSpPr>
          <p:cNvPr id="15" name="Rectangle 14"/>
          <p:cNvSpPr/>
          <p:nvPr/>
        </p:nvSpPr>
        <p:spPr>
          <a:xfrm>
            <a:off x="4270248"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1000578722.jpg"/>
          <p:cNvPicPr>
            <a:picLocks noChangeAspect="1"/>
          </p:cNvPicPr>
          <p:nvPr/>
        </p:nvPicPr>
        <p:blipFill>
          <a:blip r:embed="rId6"/>
          <a:stretch>
            <a:fillRect/>
          </a:stretch>
        </p:blipFill>
        <p:spPr>
          <a:xfrm>
            <a:off x="4343400" y="1490472"/>
            <a:ext cx="3511296" cy="3931920"/>
          </a:xfrm>
          <a:prstGeom prst="rect">
            <a:avLst/>
          </a:prstGeom>
        </p:spPr>
      </p:pic>
      <p:sp>
        <p:nvSpPr>
          <p:cNvPr id="17" name="TextBox 16"/>
          <p:cNvSpPr txBox="1"/>
          <p:nvPr/>
        </p:nvSpPr>
        <p:spPr>
          <a:xfrm>
            <a:off x="4361688" y="5468112"/>
            <a:ext cx="3474720" cy="256032"/>
          </a:xfrm>
          <a:prstGeom prst="rect">
            <a:avLst/>
          </a:prstGeom>
          <a:noFill/>
        </p:spPr>
        <p:txBody>
          <a:bodyPr wrap="none">
            <a:spAutoFit/>
          </a:bodyPr>
          <a:lstStyle/>
          <a:p>
            <a:pPr algn="l"/>
            <a:r>
              <a:rPr sz="1000" b="1">
                <a:solidFill>
                  <a:srgbClr val="464646"/>
                </a:solidFill>
                <a:latin typeface="Aptos"/>
              </a:rPr>
              <a:t>Photo 5: Cleaning the beach</a:t>
            </a:r>
          </a:p>
        </p:txBody>
      </p:sp>
      <p:sp>
        <p:nvSpPr>
          <p:cNvPr id="18" name="Rectangle 17"/>
          <p:cNvSpPr/>
          <p:nvPr/>
        </p:nvSpPr>
        <p:spPr>
          <a:xfrm>
            <a:off x="8037575" y="1417320"/>
            <a:ext cx="3657600" cy="443484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00578723.jpg"/>
          <p:cNvPicPr>
            <a:picLocks noChangeAspect="1"/>
          </p:cNvPicPr>
          <p:nvPr/>
        </p:nvPicPr>
        <p:blipFill>
          <a:blip r:embed="rId7"/>
          <a:stretch>
            <a:fillRect/>
          </a:stretch>
        </p:blipFill>
        <p:spPr>
          <a:xfrm>
            <a:off x="8110727" y="1490472"/>
            <a:ext cx="3511296" cy="3931920"/>
          </a:xfrm>
          <a:prstGeom prst="rect">
            <a:avLst/>
          </a:prstGeom>
        </p:spPr>
      </p:pic>
      <p:sp>
        <p:nvSpPr>
          <p:cNvPr id="20" name="TextBox 19"/>
          <p:cNvSpPr txBox="1"/>
          <p:nvPr/>
        </p:nvSpPr>
        <p:spPr>
          <a:xfrm>
            <a:off x="8129015" y="5468112"/>
            <a:ext cx="3474720" cy="256032"/>
          </a:xfrm>
          <a:prstGeom prst="rect">
            <a:avLst/>
          </a:prstGeom>
          <a:noFill/>
        </p:spPr>
        <p:txBody>
          <a:bodyPr wrap="none">
            <a:spAutoFit/>
          </a:bodyPr>
          <a:lstStyle/>
          <a:p>
            <a:pPr algn="l"/>
            <a:r>
              <a:rPr sz="1000" b="1">
                <a:solidFill>
                  <a:srgbClr val="464646"/>
                </a:solidFill>
                <a:latin typeface="Aptos"/>
              </a:rPr>
              <a:t>Photo 6: Group working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Impact of the Volunteer Project</a:t>
            </a:r>
          </a:p>
        </p:txBody>
      </p:sp>
      <p:sp>
        <p:nvSpPr>
          <p:cNvPr id="4" name="TextBox 3"/>
          <p:cNvSpPr txBox="1"/>
          <p:nvPr/>
        </p:nvSpPr>
        <p:spPr>
          <a:xfrm>
            <a:off x="914400" y="1554480"/>
            <a:ext cx="10241280" cy="4389120"/>
          </a:xfrm>
          <a:prstGeom prst="rect">
            <a:avLst/>
          </a:prstGeom>
          <a:noFill/>
        </p:spPr>
        <p:txBody>
          <a:bodyPr wrap="square" lIns="73152" rIns="73152">
            <a:spAutoFit/>
          </a:bodyPr>
          <a:lstStyle/>
          <a:p>
            <a:pPr>
              <a:spcAft>
                <a:spcPts val="1000"/>
              </a:spcAft>
              <a:defRPr sz="2300">
                <a:solidFill>
                  <a:srgbClr val="282828"/>
                </a:solidFill>
                <a:latin typeface="Aptos"/>
              </a:defRPr>
            </a:pPr>
            <a:r>
              <a:t>The beach was made cleaner and safer for people using the area.</a:t>
            </a:r>
          </a:p>
          <a:p>
            <a:pPr>
              <a:spcAft>
                <a:spcPts val="1000"/>
              </a:spcAft>
              <a:defRPr sz="2300">
                <a:solidFill>
                  <a:srgbClr val="282828"/>
                </a:solidFill>
                <a:latin typeface="Aptos"/>
              </a:defRPr>
            </a:pPr>
            <a:r>
              <a:t>Removing waste helped reduce pollution and the possible harm to marine life.</a:t>
            </a:r>
          </a:p>
          <a:p>
            <a:pPr>
              <a:spcAft>
                <a:spcPts val="1000"/>
              </a:spcAft>
              <a:defRPr sz="2300">
                <a:solidFill>
                  <a:srgbClr val="282828"/>
                </a:solidFill>
                <a:latin typeface="Aptos"/>
              </a:defRPr>
            </a:pPr>
            <a:r>
              <a:t>The project encouraged teamwork, communication, leadership and responsibility.</a:t>
            </a:r>
          </a:p>
          <a:p>
            <a:pPr>
              <a:spcAft>
                <a:spcPts val="1000"/>
              </a:spcAft>
              <a:defRPr sz="2300">
                <a:solidFill>
                  <a:srgbClr val="282828"/>
                </a:solidFill>
                <a:latin typeface="Aptos"/>
              </a:defRPr>
            </a:pPr>
            <a:r>
              <a:t>Our group learned that small actions can make a positive difference in the community.</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Conclusion</a:t>
            </a:r>
          </a:p>
        </p:txBody>
      </p:sp>
      <p:sp>
        <p:nvSpPr>
          <p:cNvPr id="4" name="TextBox 3"/>
          <p:cNvSpPr txBox="1"/>
          <p:nvPr/>
        </p:nvSpPr>
        <p:spPr>
          <a:xfrm>
            <a:off x="914400" y="1508760"/>
            <a:ext cx="10332720" cy="2926080"/>
          </a:xfrm>
          <a:prstGeom prst="rect">
            <a:avLst/>
          </a:prstGeom>
          <a:noFill/>
        </p:spPr>
        <p:txBody>
          <a:bodyPr wrap="square" lIns="73152" rIns="73152" tIns="73152" bIns="73152">
            <a:spAutoFit/>
          </a:bodyPr>
          <a:lstStyle/>
          <a:p>
            <a:pPr algn="l"/>
            <a:r>
              <a:rPr sz="2400" b="0">
                <a:solidFill>
                  <a:srgbClr val="282828"/>
                </a:solidFill>
                <a:latin typeface="Aptos"/>
              </a:rPr>
              <a:t>Our beach clean-up volunteering project was a valuable experience because it allowed us to identify a real environmental need and respond to it through practical action. By working together, we removed waste, improved the cleanliness of the beach and contributed to a healthier environment. The project also helped us develop important skills such as teamwork, communication, organisation, leadership and responsibility. We learned that volunteering can benefit both the community and the volunteers who take part.</a:t>
            </a:r>
          </a:p>
        </p:txBody>
      </p:sp>
      <p:sp>
        <p:nvSpPr>
          <p:cNvPr id="5" name="Rounded Rectangle 4"/>
          <p:cNvSpPr/>
          <p:nvPr/>
        </p:nvSpPr>
        <p:spPr>
          <a:xfrm>
            <a:off x="3749039" y="4892040"/>
            <a:ext cx="4663440" cy="1005840"/>
          </a:xfrm>
          <a:prstGeom prst="round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49039" y="4892040"/>
            <a:ext cx="109728" cy="1005840"/>
          </a:xfrm>
          <a:prstGeom prst="rect">
            <a:avLst/>
          </a:prstGeom>
          <a:solidFill>
            <a:srgbClr val="23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5056631"/>
            <a:ext cx="4297679" cy="411480"/>
          </a:xfrm>
          <a:prstGeom prst="rect">
            <a:avLst/>
          </a:prstGeom>
          <a:noFill/>
        </p:spPr>
        <p:txBody>
          <a:bodyPr wrap="square" lIns="73152" rIns="73152" tIns="73152" bIns="73152">
            <a:spAutoFit/>
          </a:bodyPr>
          <a:lstStyle/>
          <a:p>
            <a:pPr algn="l"/>
            <a:r>
              <a:rPr sz="1800" b="1">
                <a:solidFill>
                  <a:srgbClr val="14374B"/>
                </a:solidFill>
                <a:latin typeface="Aptos"/>
              </a:rPr>
              <a:t>Thank you</a:t>
            </a:r>
          </a:p>
        </p:txBody>
      </p:sp>
      <p:sp>
        <p:nvSpPr>
          <p:cNvPr id="8" name="TextBox 7"/>
          <p:cNvSpPr txBox="1"/>
          <p:nvPr/>
        </p:nvSpPr>
        <p:spPr>
          <a:xfrm>
            <a:off x="3977639" y="5550407"/>
            <a:ext cx="4251959" cy="182880"/>
          </a:xfrm>
          <a:prstGeom prst="rect">
            <a:avLst/>
          </a:prstGeom>
          <a:noFill/>
        </p:spPr>
        <p:txBody>
          <a:bodyPr wrap="square" lIns="73152" rIns="73152" tIns="73152" bIns="73152">
            <a:spAutoFit/>
          </a:bodyPr>
          <a:lstStyle/>
          <a:p>
            <a:pPr algn="l"/>
            <a:r>
              <a:rPr sz="1400" b="0">
                <a:solidFill>
                  <a:srgbClr val="282828"/>
                </a:solidFill>
                <a:latin typeface="Aptos"/>
              </a:rPr>
              <a:t>Questions?</a:t>
            </a:r>
          </a:p>
        </p:txBody>
      </p:sp>
      <p:sp>
        <p:nvSpPr>
          <p:cNvPr id="9" name="TextBox 8"/>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square" lIns="73152" rIns="73152" tIns="73152" bIns="73152">
            <a:spAutoFit/>
          </a:bodyPr>
          <a:lstStyle/>
          <a:p>
            <a:pPr algn="l"/>
            <a:r>
              <a:rPr sz="3000" b="1">
                <a:solidFill>
                  <a:srgbClr val="14374B"/>
                </a:solidFill>
                <a:latin typeface="Aptos"/>
              </a:rPr>
              <a:t>Checklist Before Submission</a:t>
            </a:r>
          </a:p>
        </p:txBody>
      </p:sp>
      <p:sp>
        <p:nvSpPr>
          <p:cNvPr id="4" name="TextBox 3"/>
          <p:cNvSpPr txBox="1"/>
          <p:nvPr/>
        </p:nvSpPr>
        <p:spPr>
          <a:xfrm>
            <a:off x="822960" y="1325880"/>
            <a:ext cx="10698480" cy="5120640"/>
          </a:xfrm>
          <a:prstGeom prst="rect">
            <a:avLst/>
          </a:prstGeom>
          <a:noFill/>
        </p:spPr>
        <p:txBody>
          <a:bodyPr wrap="square" lIns="73152" rIns="73152">
            <a:spAutoFit/>
          </a:bodyPr>
          <a:lstStyle/>
          <a:p>
            <a:pPr>
              <a:spcAft>
                <a:spcPts val="1000"/>
              </a:spcAft>
              <a:defRPr sz="1600">
                <a:solidFill>
                  <a:srgbClr val="282828"/>
                </a:solidFill>
                <a:latin typeface="Aptos"/>
              </a:defRPr>
            </a:pPr>
            <a:r>
              <a:t>Organisation identified and relevant to the volunteer topic.</a:t>
            </a:r>
          </a:p>
          <a:p>
            <a:pPr>
              <a:spcAft>
                <a:spcPts val="1000"/>
              </a:spcAft>
              <a:defRPr sz="1600">
                <a:solidFill>
                  <a:srgbClr val="282828"/>
                </a:solidFill>
                <a:latin typeface="Aptos"/>
              </a:defRPr>
            </a:pPr>
            <a:r>
              <a:t>One clear reason for choosing the organisation.</a:t>
            </a:r>
          </a:p>
          <a:p>
            <a:pPr>
              <a:spcAft>
                <a:spcPts val="1000"/>
              </a:spcAft>
              <a:defRPr sz="1600">
                <a:solidFill>
                  <a:srgbClr val="282828"/>
                </a:solidFill>
                <a:latin typeface="Aptos"/>
              </a:defRPr>
            </a:pPr>
            <a:r>
              <a:t>Four different needs identified.</a:t>
            </a:r>
          </a:p>
          <a:p>
            <a:pPr>
              <a:spcAft>
                <a:spcPts val="1000"/>
              </a:spcAft>
              <a:defRPr sz="1600">
                <a:solidFill>
                  <a:srgbClr val="282828"/>
                </a:solidFill>
                <a:latin typeface="Aptos"/>
              </a:defRPr>
            </a:pPr>
            <a:r>
              <a:t>Four practical actions that address the four needs.</a:t>
            </a:r>
          </a:p>
          <a:p>
            <a:pPr>
              <a:spcAft>
                <a:spcPts val="1000"/>
              </a:spcAft>
              <a:defRPr sz="1600">
                <a:solidFill>
                  <a:srgbClr val="282828"/>
                </a:solidFill>
                <a:latin typeface="Aptos"/>
              </a:defRPr>
            </a:pPr>
            <a:r>
              <a:t>At least 5–6 hours of volunteering completed and recorded.</a:t>
            </a:r>
          </a:p>
          <a:p>
            <a:pPr>
              <a:spcAft>
                <a:spcPts val="1000"/>
              </a:spcAft>
              <a:defRPr sz="1600">
                <a:solidFill>
                  <a:srgbClr val="282828"/>
                </a:solidFill>
                <a:latin typeface="Aptos"/>
              </a:defRPr>
            </a:pPr>
            <a:r>
              <a:t>At least two sentences written about each group member's role.</a:t>
            </a:r>
          </a:p>
          <a:p>
            <a:pPr>
              <a:spcAft>
                <a:spcPts val="1000"/>
              </a:spcAft>
              <a:defRPr sz="1600">
                <a:solidFill>
                  <a:srgbClr val="282828"/>
                </a:solidFill>
                <a:latin typeface="Aptos"/>
              </a:defRPr>
            </a:pPr>
            <a:r>
              <a:t>At least five sentences describing the group's activities.</a:t>
            </a:r>
          </a:p>
          <a:p>
            <a:pPr>
              <a:spcAft>
                <a:spcPts val="1000"/>
              </a:spcAft>
              <a:defRPr sz="1600">
                <a:solidFill>
                  <a:srgbClr val="282828"/>
                </a:solidFill>
                <a:latin typeface="Aptos"/>
              </a:defRPr>
            </a:pPr>
            <a:r>
              <a:t>At least five sentences explaining how the hours were used.</a:t>
            </a:r>
          </a:p>
          <a:p>
            <a:pPr>
              <a:spcAft>
                <a:spcPts val="1000"/>
              </a:spcAft>
              <a:defRPr sz="1600">
                <a:solidFill>
                  <a:srgbClr val="282828"/>
                </a:solidFill>
                <a:latin typeface="Aptos"/>
              </a:defRPr>
            </a:pPr>
            <a:r>
              <a:t>At least three photographs submitted, with all members appearing in at least two.</a:t>
            </a:r>
          </a:p>
          <a:p>
            <a:pPr>
              <a:spcAft>
                <a:spcPts val="1000"/>
              </a:spcAft>
              <a:defRPr sz="1600">
                <a:solidFill>
                  <a:srgbClr val="282828"/>
                </a:solidFill>
                <a:latin typeface="Aptos"/>
              </a:defRPr>
            </a:pPr>
            <a:r>
              <a:t>Proof of participation and a fully completed, signed timesheet included.</a:t>
            </a:r>
          </a:p>
        </p:txBody>
      </p:sp>
      <p:sp>
        <p:nvSpPr>
          <p:cNvPr id="5" name="TextBox 4"/>
          <p:cNvSpPr txBox="1"/>
          <p:nvPr/>
        </p:nvSpPr>
        <p:spPr>
          <a:xfrm>
            <a:off x="594360" y="6510528"/>
            <a:ext cx="10972800" cy="201168"/>
          </a:xfrm>
          <a:prstGeom prst="rect">
            <a:avLst/>
          </a:prstGeom>
          <a:noFill/>
        </p:spPr>
        <p:txBody>
          <a:bodyPr wrap="square" lIns="73152" rIns="73152" tIns="73152" bIns="73152">
            <a:spAutoFit/>
          </a:bodyPr>
          <a:lstStyle/>
          <a:p>
            <a:pPr algn="l"/>
            <a:r>
              <a:rPr sz="900" b="0">
                <a:solidFill>
                  <a:srgbClr val="696969"/>
                </a:solidFill>
                <a:latin typeface="Aptos"/>
              </a:rPr>
              <a:t>Volunteer Project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338560" cy="502920"/>
          </a:xfrm>
          <a:prstGeom prst="rect">
            <a:avLst/>
          </a:prstGeom>
          <a:noFill/>
        </p:spPr>
        <p:txBody>
          <a:bodyPr wrap="none">
            <a:spAutoFit/>
          </a:bodyPr>
          <a:lstStyle/>
          <a:p>
            <a:pPr algn="ctr"/>
            <a:r>
              <a:rPr sz="2600" b="1">
                <a:solidFill>
                  <a:srgbClr val="14374B"/>
                </a:solidFill>
                <a:latin typeface="Aptos Display"/>
              </a:rPr>
              <a:t>EVIDENCE OF PARTICIPATION</a:t>
            </a:r>
          </a:p>
        </p:txBody>
      </p:sp>
      <p:sp>
        <p:nvSpPr>
          <p:cNvPr id="4" name="TextBox 3"/>
          <p:cNvSpPr txBox="1"/>
          <p:nvPr/>
        </p:nvSpPr>
        <p:spPr>
          <a:xfrm>
            <a:off x="548640" y="658368"/>
            <a:ext cx="11064240" cy="292608"/>
          </a:xfrm>
          <a:prstGeom prst="rect">
            <a:avLst/>
          </a:prstGeom>
          <a:noFill/>
        </p:spPr>
        <p:txBody>
          <a:bodyPr wrap="none">
            <a:spAutoFit/>
          </a:bodyPr>
          <a:lstStyle/>
          <a:p>
            <a:pPr algn="ctr"/>
            <a:r>
              <a:rPr sz="1200">
                <a:solidFill>
                  <a:srgbClr val="646464"/>
                </a:solidFill>
                <a:latin typeface="Aptos"/>
              </a:rPr>
              <a:t>Photographic evidence of our beach clean-up volunteer project</a:t>
            </a:r>
          </a:p>
        </p:txBody>
      </p:sp>
      <p:sp>
        <p:nvSpPr>
          <p:cNvPr id="5" name="Rectangle 4"/>
          <p:cNvSpPr/>
          <p:nvPr/>
        </p:nvSpPr>
        <p:spPr>
          <a:xfrm>
            <a:off x="320040" y="1051560"/>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365759" y="1097280"/>
            <a:ext cx="3703320" cy="2423160"/>
          </a:xfrm>
          <a:prstGeom prst="rect">
            <a:avLst/>
          </a:prstGeom>
        </p:spPr>
      </p:pic>
      <p:sp>
        <p:nvSpPr>
          <p:cNvPr id="7" name="Rectangle 6"/>
          <p:cNvSpPr/>
          <p:nvPr/>
        </p:nvSpPr>
        <p:spPr>
          <a:xfrm>
            <a:off x="4197096" y="1051560"/>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4242816" y="1097280"/>
            <a:ext cx="3703320" cy="2423160"/>
          </a:xfrm>
          <a:prstGeom prst="rect">
            <a:avLst/>
          </a:prstGeom>
        </p:spPr>
      </p:pic>
      <p:sp>
        <p:nvSpPr>
          <p:cNvPr id="9" name="Rectangle 8"/>
          <p:cNvSpPr/>
          <p:nvPr/>
        </p:nvSpPr>
        <p:spPr>
          <a:xfrm>
            <a:off x="8074152" y="1051560"/>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jpg"/>
          <p:cNvPicPr>
            <a:picLocks noChangeAspect="1"/>
          </p:cNvPicPr>
          <p:nvPr/>
        </p:nvPicPr>
        <p:blipFill>
          <a:blip r:embed="rId4"/>
          <a:stretch>
            <a:fillRect/>
          </a:stretch>
        </p:blipFill>
        <p:spPr>
          <a:xfrm>
            <a:off x="8119872" y="1097280"/>
            <a:ext cx="3703320" cy="2423160"/>
          </a:xfrm>
          <a:prstGeom prst="rect">
            <a:avLst/>
          </a:prstGeom>
        </p:spPr>
      </p:pic>
      <p:sp>
        <p:nvSpPr>
          <p:cNvPr id="11" name="Rectangle 10"/>
          <p:cNvSpPr/>
          <p:nvPr/>
        </p:nvSpPr>
        <p:spPr>
          <a:xfrm>
            <a:off x="320040" y="3767328"/>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65759" y="3813048"/>
            <a:ext cx="3703320" cy="2423160"/>
          </a:xfrm>
          <a:prstGeom prst="rect">
            <a:avLst/>
          </a:prstGeom>
        </p:spPr>
      </p:pic>
      <p:sp>
        <p:nvSpPr>
          <p:cNvPr id="13" name="Rectangle 12"/>
          <p:cNvSpPr/>
          <p:nvPr/>
        </p:nvSpPr>
        <p:spPr>
          <a:xfrm>
            <a:off x="4197096" y="3767328"/>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jpg"/>
          <p:cNvPicPr>
            <a:picLocks noChangeAspect="1"/>
          </p:cNvPicPr>
          <p:nvPr/>
        </p:nvPicPr>
        <p:blipFill>
          <a:blip r:embed="rId6"/>
          <a:stretch>
            <a:fillRect/>
          </a:stretch>
        </p:blipFill>
        <p:spPr>
          <a:xfrm>
            <a:off x="4242816" y="3813048"/>
            <a:ext cx="3703320" cy="2423160"/>
          </a:xfrm>
          <a:prstGeom prst="rect">
            <a:avLst/>
          </a:prstGeom>
        </p:spPr>
      </p:pic>
      <p:sp>
        <p:nvSpPr>
          <p:cNvPr id="15" name="Rectangle 14"/>
          <p:cNvSpPr/>
          <p:nvPr/>
        </p:nvSpPr>
        <p:spPr>
          <a:xfrm>
            <a:off x="8074152" y="3767328"/>
            <a:ext cx="3794760" cy="25146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jpg"/>
          <p:cNvPicPr>
            <a:picLocks noChangeAspect="1"/>
          </p:cNvPicPr>
          <p:nvPr/>
        </p:nvPicPr>
        <p:blipFill>
          <a:blip r:embed="rId7"/>
          <a:stretch>
            <a:fillRect/>
          </a:stretch>
        </p:blipFill>
        <p:spPr>
          <a:xfrm>
            <a:off x="8119872" y="3813048"/>
            <a:ext cx="3703320" cy="2423160"/>
          </a:xfrm>
          <a:prstGeom prst="rect">
            <a:avLst/>
          </a:prstGeom>
        </p:spPr>
      </p:pic>
      <p:sp>
        <p:nvSpPr>
          <p:cNvPr id="17" name="TextBox 16"/>
          <p:cNvSpPr txBox="1"/>
          <p:nvPr/>
        </p:nvSpPr>
        <p:spPr>
          <a:xfrm>
            <a:off x="457200" y="6510528"/>
            <a:ext cx="11247120" cy="182880"/>
          </a:xfrm>
          <a:prstGeom prst="rect">
            <a:avLst/>
          </a:prstGeom>
          <a:noFill/>
        </p:spPr>
        <p:txBody>
          <a:bodyPr wrap="none">
            <a:spAutoFit/>
          </a:bodyPr>
          <a:lstStyle/>
          <a:p>
            <a:pPr algn="ctr"/>
            <a:r>
              <a:rPr sz="900">
                <a:solidFill>
                  <a:srgbClr val="696969"/>
                </a:solidFill>
                <a:latin typeface="Aptos"/>
              </a:rPr>
              <a:t>Beach Clean-Up Volunteer Project • Group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